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86932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 smtClean="0">
                <a:solidFill>
                  <a:srgbClr val="1E232A"/>
                </a:solidFill>
              </a:rPr>
              <a:t>INTELLIGENT</a:t>
            </a:r>
            <a:r>
              <a:rPr lang="en-US" sz="3600" b="1" dirty="0" smtClean="0">
                <a:solidFill>
                  <a:srgbClr val="1E232A"/>
                </a:solidFill>
              </a:rPr>
              <a:t> </a:t>
            </a:r>
            <a:r>
              <a:rPr sz="3600" b="1" dirty="0" smtClean="0">
                <a:solidFill>
                  <a:srgbClr val="1E232A"/>
                </a:solidFill>
              </a:rPr>
              <a:t> TRAFFIC</a:t>
            </a:r>
            <a:r>
              <a:rPr lang="en-US" sz="3600" b="1" dirty="0" smtClean="0">
                <a:solidFill>
                  <a:srgbClr val="1E232A"/>
                </a:solidFill>
              </a:rPr>
              <a:t> </a:t>
            </a:r>
            <a:r>
              <a:rPr sz="3600" b="1" dirty="0" smtClean="0">
                <a:solidFill>
                  <a:srgbClr val="1E232A"/>
                </a:solidFill>
              </a:rPr>
              <a:t>PREDICTION </a:t>
            </a:r>
            <a:r>
              <a:rPr sz="3600" b="1" dirty="0">
                <a:solidFill>
                  <a:srgbClr val="1E232A"/>
                </a:solidFill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520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5A626C"/>
                </a:solidFill>
              </a:rPr>
              <a:t>An AI/ML-based approach for predicting and managing traffic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1428" y="4058843"/>
            <a:ext cx="7928106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1E232A"/>
                </a:solidFill>
              </a:rPr>
              <a:t>TEAM MEMBERS:</a:t>
            </a:r>
          </a:p>
          <a:p>
            <a:r>
              <a:rPr lang="en-US" sz="1200" b="1" dirty="0" smtClean="0">
                <a:solidFill>
                  <a:srgbClr val="1E232A"/>
                </a:solidFill>
              </a:rPr>
              <a:t>2420030658-MURARI PRANUSREE</a:t>
            </a:r>
          </a:p>
          <a:p>
            <a:r>
              <a:rPr lang="en-US" sz="1200" b="1" dirty="0" smtClean="0">
                <a:solidFill>
                  <a:srgbClr val="1E232A"/>
                </a:solidFill>
              </a:rPr>
              <a:t>2420030667-NISHANTH REDDY</a:t>
            </a:r>
          </a:p>
          <a:p>
            <a:r>
              <a:rPr lang="en-US" sz="1200" b="1" dirty="0" smtClean="0">
                <a:solidFill>
                  <a:srgbClr val="1E232A"/>
                </a:solidFill>
              </a:rPr>
              <a:t>2420030790-J SHASHANK</a:t>
            </a: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r>
              <a:rPr lang="en-US" sz="1300" dirty="0">
                <a:solidFill>
                  <a:srgbClr val="1E232A"/>
                </a:solidFill>
              </a:rPr>
              <a:t> </a:t>
            </a:r>
            <a:r>
              <a:rPr lang="en-US" sz="1300" dirty="0" smtClean="0">
                <a:solidFill>
                  <a:srgbClr val="1E232A"/>
                </a:solidFill>
              </a:rPr>
              <a:t>  </a:t>
            </a:r>
            <a:r>
              <a:rPr lang="en-US" sz="1600" b="1" dirty="0" smtClean="0">
                <a:solidFill>
                  <a:srgbClr val="1E232A"/>
                </a:solidFill>
              </a:rPr>
              <a:t>FACULTY-DR.N.SUNANDA</a:t>
            </a: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endParaRPr lang="en-US" sz="1300" dirty="0">
              <a:solidFill>
                <a:srgbClr val="1E232A"/>
              </a:solidFill>
            </a:endParaRPr>
          </a:p>
          <a:p>
            <a:endParaRPr lang="en-US" sz="1300" dirty="0" smtClean="0">
              <a:solidFill>
                <a:srgbClr val="1E232A"/>
              </a:solidFill>
            </a:endParaRPr>
          </a:p>
          <a:p>
            <a:endParaRPr sz="1300" dirty="0">
              <a:solidFill>
                <a:srgbClr val="1E23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12064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42416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An AI/ML-based system that predicts future traffic conditions and possible congestion.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Analyzes historical and real-time data such as vehicle count, speed, time, day, weather and road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Machine Learning identifies traffic patterns and produces traffic-level predictions.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Outputs can help commuters choose better routes and support traffic authorities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system can consider factors such as vehicle count, time, day, weather conditions, road conditions, and previous traffic patterns.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Based on the predicted traffic level, the system can help in making better traffic-management decisions.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can support dynamic traffic signal control, congestion detection, route planning, and travel-time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estimation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Goal: reduce congestion, travel time and fuel consumption while improving road efficiency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endParaRPr lang="en-US" dirty="0" smtClean="0"/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7266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406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Urban traffic congestion causes delays, fuel wastage and inefficient use of road capacity.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Traditional systems often react after congestion has already developed.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Traffic can change quickly because of peak hours, accidents, weather and road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Manual monitoring cannot efficiently cover large and continuously changing road networks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Traffic conditions change continuously depending on time, day, weather, accidents, road conditions, and vehicle density.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Existing traffic signal systems often use fixed timings, which may not adapt to changing traffic conditions.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Unexpected traffic congestion can lead to long waiting times and delays for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commuters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Traffic jams result in increased fuel consumption and air pollution due to vehicles spending more time on roads.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Traffic authorities face difficulties in monitoring and managing traffic effectively across multiple locations.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Traditional methods mainly analyze past traffic data and may not accurately predict future traffic conditions.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54848" y="5206434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63870" y="5203093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2D5F87"/>
                </a:solidFill>
              </a:rPr>
              <a:t>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63870" y="5639622"/>
            <a:ext cx="33345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Use traffic data and Machine Learning to </a:t>
            </a:r>
            <a:r>
              <a:rPr sz="1250" dirty="0" smtClean="0">
                <a:solidFill>
                  <a:srgbClr val="1E232A"/>
                </a:solidFill>
              </a:rPr>
              <a:t>predict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 </a:t>
            </a:r>
            <a:r>
              <a:rPr sz="1250" dirty="0">
                <a:solidFill>
                  <a:srgbClr val="1E232A"/>
                </a:solidFill>
              </a:rPr>
              <a:t>congestion early and support preventive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3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Forecast future traffic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Identify roads likely to become congested.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Learn from historical traffic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Predict Low, Moderate or High traffic.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Help users and authorities make better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Reduce travel time, fuel use and congestion.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Existing System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CCTV &amp;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Monitor current traffic volume and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Manual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Staff observe and respond to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Fixed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Timing may not adapt to changing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GPS /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Useful for current traffic; forecasting may be limited.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Reactive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Action often occurs after congestion appears.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566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Limited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23360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Unexpected events can cause sudden congestion.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Proposed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Traffic Data</a:t>
            </a:r>
          </a:p>
        </p:txBody>
      </p:sp>
      <p:sp>
        <p:nvSpPr>
          <p:cNvPr id="4" name="Chevron 3"/>
          <p:cNvSpPr/>
          <p:nvPr/>
        </p:nvSpPr>
        <p:spPr>
          <a:xfrm>
            <a:off x="2354580" y="22768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41448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Preprocessing</a:t>
            </a:r>
          </a:p>
        </p:txBody>
      </p:sp>
      <p:sp>
        <p:nvSpPr>
          <p:cNvPr id="6" name="Chevron 5"/>
          <p:cNvSpPr/>
          <p:nvPr/>
        </p:nvSpPr>
        <p:spPr>
          <a:xfrm>
            <a:off x="4201668" y="22768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88536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Features</a:t>
            </a:r>
          </a:p>
        </p:txBody>
      </p:sp>
      <p:sp>
        <p:nvSpPr>
          <p:cNvPr id="8" name="Chevron 7"/>
          <p:cNvSpPr/>
          <p:nvPr/>
        </p:nvSpPr>
        <p:spPr>
          <a:xfrm>
            <a:off x="6048756" y="22768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35624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ML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7895844" y="22768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2712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Prediction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742932" y="22768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20574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Collect traffic information from historical datasets and, where available, real-time sources.</a:t>
            </a:r>
          </a:p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Clean the data, engineer useful features and train a Machine Learning model.</a:t>
            </a:r>
          </a:p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Predict traffic level and present the result through a simple user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Data Sources</a:t>
            </a:r>
          </a:p>
        </p:txBody>
      </p:sp>
      <p:sp>
        <p:nvSpPr>
          <p:cNvPr id="4" name="Chevron 3"/>
          <p:cNvSpPr/>
          <p:nvPr/>
        </p:nvSpPr>
        <p:spPr>
          <a:xfrm>
            <a:off x="2090710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77578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Collection</a:t>
            </a:r>
          </a:p>
        </p:txBody>
      </p:sp>
      <p:sp>
        <p:nvSpPr>
          <p:cNvPr id="6" name="Chevron 5"/>
          <p:cNvSpPr/>
          <p:nvPr/>
        </p:nvSpPr>
        <p:spPr>
          <a:xfrm>
            <a:off x="3673928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60796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Preprocessing</a:t>
            </a:r>
          </a:p>
        </p:txBody>
      </p:sp>
      <p:sp>
        <p:nvSpPr>
          <p:cNvPr id="8" name="Chevron 7"/>
          <p:cNvSpPr/>
          <p:nvPr/>
        </p:nvSpPr>
        <p:spPr>
          <a:xfrm>
            <a:off x="5257146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44014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Features</a:t>
            </a:r>
          </a:p>
        </p:txBody>
      </p:sp>
      <p:sp>
        <p:nvSpPr>
          <p:cNvPr id="10" name="Chevron 9"/>
          <p:cNvSpPr/>
          <p:nvPr/>
        </p:nvSpPr>
        <p:spPr>
          <a:xfrm>
            <a:off x="6840365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27233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ML Training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8423583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10451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Prediction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10006801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93669" y="1828800"/>
            <a:ext cx="147349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Data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20184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Traffic sensors • GPS • </a:t>
            </a:r>
            <a:r>
              <a:rPr sz="1250" dirty="0" smtClean="0">
                <a:solidFill>
                  <a:srgbClr val="1E232A"/>
                </a:solidFill>
              </a:rPr>
              <a:t>CCTV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 </a:t>
            </a:r>
            <a:r>
              <a:rPr sz="1250" dirty="0">
                <a:solidFill>
                  <a:srgbClr val="1E232A"/>
                </a:solidFill>
              </a:rPr>
              <a:t>• historical data • weather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6576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794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286238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Missing values • duplicates • 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outliers </a:t>
            </a:r>
            <a:r>
              <a:rPr sz="1250" dirty="0">
                <a:solidFill>
                  <a:srgbClr val="1E232A"/>
                </a:solidFill>
              </a:rPr>
              <a:t>• encoding • feature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794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51960"/>
            <a:ext cx="23085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Traffic level • congestion alerts </a:t>
            </a:r>
            <a:r>
              <a:rPr sz="1250" dirty="0" smtClean="0">
                <a:solidFill>
                  <a:srgbClr val="1E232A"/>
                </a:solidFill>
              </a:rPr>
              <a:t>•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 </a:t>
            </a:r>
            <a:r>
              <a:rPr sz="1250" dirty="0">
                <a:solidFill>
                  <a:srgbClr val="1E232A"/>
                </a:solidFill>
              </a:rPr>
              <a:t>trends • decision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234440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19656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819656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Pandas, NumPy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391156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404872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Matplotlib, Seaborn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990088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990088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Scikit-learn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75304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Mode</a:t>
            </a:r>
            <a:r>
              <a:rPr sz="1050" b="1" dirty="0"/>
              <a:t>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575304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Random Forest / 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160520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Web 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160520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HTML, CSS, JavaScript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Backen</a:t>
            </a:r>
            <a:r>
              <a:rPr sz="1050" b="1" dirty="0"/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745736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30952"/>
            <a:ext cx="283464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330952"/>
            <a:ext cx="4754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MySQL / SQLite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Machine Learning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Collect</a:t>
            </a:r>
          </a:p>
        </p:txBody>
      </p:sp>
      <p:sp>
        <p:nvSpPr>
          <p:cNvPr id="4" name="Chevron 3"/>
          <p:cNvSpPr/>
          <p:nvPr/>
        </p:nvSpPr>
        <p:spPr>
          <a:xfrm>
            <a:off x="2354580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41448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Clean</a:t>
            </a:r>
          </a:p>
        </p:txBody>
      </p:sp>
      <p:sp>
        <p:nvSpPr>
          <p:cNvPr id="6" name="Chevron 5"/>
          <p:cNvSpPr/>
          <p:nvPr/>
        </p:nvSpPr>
        <p:spPr>
          <a:xfrm>
            <a:off x="4201668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88536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Engineer Features</a:t>
            </a:r>
          </a:p>
        </p:txBody>
      </p:sp>
      <p:sp>
        <p:nvSpPr>
          <p:cNvPr id="8" name="Chevron 7"/>
          <p:cNvSpPr/>
          <p:nvPr/>
        </p:nvSpPr>
        <p:spPr>
          <a:xfrm>
            <a:off x="6048756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35624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Train /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895844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2712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Evaluate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9742932" y="204825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1828800"/>
            <a:ext cx="1737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Preprocessing: handle missing values, duplicates and inconsistent records.</a:t>
            </a:r>
          </a:p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Feature selection: vehicle count, average speed, time, day, weather and road-related attributes.</a:t>
            </a:r>
          </a:p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Split data into training and testing sets to learn patterns and evaluate generalization.</a:t>
            </a:r>
          </a:p>
          <a:p>
            <a:pPr>
              <a:spcAft>
                <a:spcPts val="1000"/>
              </a:spcAft>
              <a:defRPr sz="1500">
                <a:solidFill>
                  <a:srgbClr val="1E232A"/>
                </a:solidFill>
              </a:defRPr>
            </a:pPr>
            <a:r>
              <a:t>• Train a classification or regression model depending on the prediction target.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Algorithm &amp;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Combines multiple decision trees and aggregates their predictions. Useful for handling multiple traffic-related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46120"/>
            <a:ext cx="266090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Input</a:t>
            </a:r>
          </a:p>
        </p:txBody>
      </p:sp>
      <p:sp>
        <p:nvSpPr>
          <p:cNvPr id="7" name="Chevron 6"/>
          <p:cNvSpPr/>
          <p:nvPr/>
        </p:nvSpPr>
        <p:spPr>
          <a:xfrm>
            <a:off x="3278124" y="346557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64992" y="3246120"/>
            <a:ext cx="266090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Decision Trees</a:t>
            </a:r>
          </a:p>
        </p:txBody>
      </p:sp>
      <p:sp>
        <p:nvSpPr>
          <p:cNvPr id="9" name="Chevron 8"/>
          <p:cNvSpPr/>
          <p:nvPr/>
        </p:nvSpPr>
        <p:spPr>
          <a:xfrm>
            <a:off x="6048756" y="346557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35624" y="3246120"/>
            <a:ext cx="266090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Combine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8819388" y="3465576"/>
            <a:ext cx="91440" cy="310896"/>
          </a:xfrm>
          <a:prstGeom prst="chevron">
            <a:avLst/>
          </a:prstGeom>
          <a:solidFill>
            <a:srgbClr val="2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06256" y="3246120"/>
            <a:ext cx="266090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E232A"/>
                </a:solidFill>
              </a:rPr>
              <a:t>Final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Example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25530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6 PM • Monday • high vehicle </a:t>
            </a:r>
            <a:r>
              <a:rPr sz="1250" dirty="0" smtClean="0">
                <a:solidFill>
                  <a:srgbClr val="1E232A"/>
                </a:solidFill>
              </a:rPr>
              <a:t>count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 </a:t>
            </a:r>
            <a:r>
              <a:rPr sz="1250" dirty="0">
                <a:solidFill>
                  <a:srgbClr val="1E232A"/>
                </a:solidFill>
              </a:rPr>
              <a:t>• low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5720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4709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Model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166360"/>
            <a:ext cx="274320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HIGH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5720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709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User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166360"/>
            <a:ext cx="274320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Consider alternate route / plan travel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Expected Results &amp;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3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Expected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457" y="1920240"/>
            <a:ext cx="34583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Accurate traffic-level </a:t>
            </a:r>
            <a:r>
              <a:rPr sz="1250" dirty="0" smtClean="0">
                <a:solidFill>
                  <a:srgbClr val="1E232A"/>
                </a:solidFill>
              </a:rPr>
              <a:t>predicti</a:t>
            </a:r>
            <a:r>
              <a:rPr lang="en-US" sz="1250" dirty="0" smtClean="0">
                <a:solidFill>
                  <a:srgbClr val="1E232A"/>
                </a:solidFill>
              </a:rPr>
              <a:t>on</a:t>
            </a:r>
            <a:r>
              <a:rPr sz="1250" dirty="0" smtClean="0">
                <a:solidFill>
                  <a:srgbClr val="1E232A"/>
                </a:solidFill>
              </a:rPr>
              <a:t> </a:t>
            </a:r>
            <a:r>
              <a:rPr sz="1250" dirty="0">
                <a:solidFill>
                  <a:srgbClr val="1E232A"/>
                </a:solidFill>
              </a:rPr>
              <a:t>congestion-prone 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road </a:t>
            </a:r>
            <a:r>
              <a:rPr sz="1250" dirty="0">
                <a:solidFill>
                  <a:srgbClr val="1E232A"/>
                </a:solidFill>
              </a:rPr>
              <a:t>identification and useful traffic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46303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User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7910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Better route planning, less unnecessary 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travel </a:t>
            </a:r>
            <a:r>
              <a:rPr sz="1250" dirty="0">
                <a:solidFill>
                  <a:srgbClr val="1E232A"/>
                </a:solidFill>
              </a:rPr>
              <a:t>time and improved awareness.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3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Authority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47202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32A"/>
                </a:solidFill>
              </a:rPr>
              <a:t>Data-driven monitoring and better </a:t>
            </a:r>
            <a:endParaRPr lang="en-US" sz="1250" dirty="0" smtClean="0">
              <a:solidFill>
                <a:srgbClr val="1E232A"/>
              </a:solidFill>
            </a:endParaRPr>
          </a:p>
          <a:p>
            <a:r>
              <a:rPr sz="1250" dirty="0" smtClean="0">
                <a:solidFill>
                  <a:srgbClr val="1E232A"/>
                </a:solidFill>
              </a:rPr>
              <a:t>traffic-management </a:t>
            </a:r>
            <a:r>
              <a:rPr sz="1250" dirty="0">
                <a:solidFill>
                  <a:srgbClr val="1E232A"/>
                </a:solidFill>
              </a:rPr>
              <a:t>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606040"/>
            <a:ext cx="201168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Vehicle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2797" y="2606040"/>
            <a:ext cx="201168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606040"/>
            <a:ext cx="2560320" cy="438912"/>
          </a:xfrm>
          <a:prstGeom prst="rect">
            <a:avLst/>
          </a:prstGeom>
          <a:solidFill>
            <a:srgbClr val="E8EEF3"/>
          </a:solidFill>
          <a:ln>
            <a:solidFill>
              <a:srgbClr val="2D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</a:rPr>
              <a:t>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8 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108960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3108960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108960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75887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1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675887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675887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675887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Moderate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242816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5 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242816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242816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242816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809744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10 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4809744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4809744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809744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E232A"/>
                </a:solidFill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32A"/>
                </a:solidFill>
              </a:rP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1965960"/>
            <a:ext cx="5029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E232A"/>
                </a:solidFill>
              </a:rPr>
              <a:t>The Intelligent Traffic Prediction System uses historical and real-time </a:t>
            </a:r>
            <a:endParaRPr lang="en-US" sz="1400" dirty="0" smtClean="0">
              <a:solidFill>
                <a:srgbClr val="1E232A"/>
              </a:solidFill>
            </a:endParaRPr>
          </a:p>
          <a:p>
            <a:r>
              <a:rPr sz="1400" dirty="0" smtClean="0">
                <a:solidFill>
                  <a:srgbClr val="1E232A"/>
                </a:solidFill>
              </a:rPr>
              <a:t>traffic</a:t>
            </a:r>
            <a:endParaRPr lang="en-US" sz="1400" dirty="0" smtClean="0">
              <a:solidFill>
                <a:srgbClr val="1E232A"/>
              </a:solidFill>
            </a:endParaRPr>
          </a:p>
          <a:p>
            <a:r>
              <a:rPr sz="1400" dirty="0" smtClean="0">
                <a:solidFill>
                  <a:srgbClr val="1E232A"/>
                </a:solidFill>
              </a:rPr>
              <a:t> </a:t>
            </a:r>
            <a:r>
              <a:rPr sz="1400" dirty="0">
                <a:solidFill>
                  <a:srgbClr val="1E232A"/>
                </a:solidFill>
              </a:rPr>
              <a:t>data with Machine Learning to forecast traffic conditions.
It provides early congestion information and supports commuters, </a:t>
            </a:r>
            <a:endParaRPr lang="en-US" sz="1400" dirty="0" smtClean="0">
              <a:solidFill>
                <a:srgbClr val="1E232A"/>
              </a:solidFill>
            </a:endParaRPr>
          </a:p>
          <a:p>
            <a:r>
              <a:rPr sz="1400" dirty="0" smtClean="0">
                <a:solidFill>
                  <a:srgbClr val="1E232A"/>
                </a:solidFill>
              </a:rPr>
              <a:t>traffic </a:t>
            </a:r>
            <a:r>
              <a:rPr sz="1400" dirty="0">
                <a:solidFill>
                  <a:srgbClr val="1E232A"/>
                </a:solidFill>
              </a:rPr>
              <a:t>authorities and smart-city systems.
Goal: make transportation more efficient, predictable and intelligent</a:t>
            </a:r>
            <a:r>
              <a:rPr sz="1250" dirty="0">
                <a:solidFill>
                  <a:srgbClr val="1E232A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F87"/>
                </a:solidFill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8463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A"/>
                </a:solidFill>
              </a:rPr>
              <a:t>• Real-time GPS integration
• Live CCTV / vehicle detection
• IoT traffic sensors
• Adaptive traffic-signal optimization
• Weather API integration
• Mobile application
• LSTM / Deep Learning
• Navigation-system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80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D5F87"/>
                </a:solidFill>
              </a:rPr>
              <a:t>“Predict traffic before it becomes a problem.”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1878" y="2967335"/>
            <a:ext cx="55082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THANKYOU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49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830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Engravers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Murari Pranusree</dc:creator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2026-09-15T05:19:24Z</dcterms:modified>
  <cp:category/>
</cp:coreProperties>
</file>